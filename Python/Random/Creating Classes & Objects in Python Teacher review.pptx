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3"/>
  </p:notesMasterIdLst>
  <p:handoutMasterIdLst>
    <p:handoutMasterId r:id="rId24"/>
  </p:handoutMasterIdLst>
  <p:sldIdLst>
    <p:sldId id="410" r:id="rId5"/>
    <p:sldId id="383" r:id="rId6"/>
    <p:sldId id="391" r:id="rId7"/>
    <p:sldId id="408" r:id="rId8"/>
    <p:sldId id="411" r:id="rId9"/>
    <p:sldId id="416" r:id="rId10"/>
    <p:sldId id="412" r:id="rId11"/>
    <p:sldId id="413" r:id="rId12"/>
    <p:sldId id="415" r:id="rId13"/>
    <p:sldId id="414" r:id="rId14"/>
    <p:sldId id="417" r:id="rId15"/>
    <p:sldId id="418" r:id="rId16"/>
    <p:sldId id="419" r:id="rId17"/>
    <p:sldId id="420" r:id="rId18"/>
    <p:sldId id="421" r:id="rId19"/>
    <p:sldId id="423" r:id="rId20"/>
    <p:sldId id="398" r:id="rId21"/>
    <p:sldId id="42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6327" autoAdjust="0"/>
  </p:normalViewPr>
  <p:slideViewPr>
    <p:cSldViewPr snapToGrid="0">
      <p:cViewPr varScale="1">
        <p:scale>
          <a:sx n="71" d="100"/>
          <a:sy n="71" d="100"/>
        </p:scale>
        <p:origin x="60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F5D6-1A51-12A5-C472-45E40B5E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AE653-67AC-3722-63C3-6A89E2B28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3271D-7663-F0EE-2382-9789E1BB7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064CC-C46C-F8B9-4C12-656C54042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62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2230-00EA-848F-C743-CAB1ACC2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A3F18-A54B-4E64-FFC1-FB8538B39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7E038-AAB9-61C5-5D90-10F46921B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E6012-1248-B02D-A3DA-68057497D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78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A0DD-2462-9269-01C3-CB0B630D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8FD44-1508-0AFF-4074-36D6A8488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417A7-EC5E-6D84-1CAC-A83657606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6504-34E0-6C3C-832C-B56FA1C99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126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1578-6876-8602-1790-8E9FDF14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624EC-B3F4-C2C9-3B79-24BC5E693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90A7E-86B6-F615-52C3-8CAA1F03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1B371-C2E4-F47F-B376-E8D2E1F89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73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C89B9-4D47-4EE4-9959-272BC561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07C8C-2A57-DC83-6F4F-87F822D12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7F6CF-31ED-8663-ABAF-1956D0A2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AA10B-15FB-FD4E-9A3E-C5B20A117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81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B196-8A9F-1D14-7073-F0D60CD6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93885-32E5-1222-2662-06D8BF7D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6686B-8DA0-30C0-56C4-0B0BF8A1A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B41E0-A4C9-14A4-7CA3-135EA1A5C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77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8F7C-0F8C-2D28-1A90-F3424AAE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566D-CD89-1AAE-8D69-A786805F2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9B30-729C-9E0D-4B0A-8105C6A2C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A515-5202-198D-2520-DCB8F1CD4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6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8F7C-0F8C-2D28-1A90-F3424AAE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566D-CD89-1AAE-8D69-A786805F2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9B30-729C-9E0D-4B0A-8105C6A2C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A515-5202-198D-2520-DCB8F1CD4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25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8F7C-0F8C-2D28-1A90-F3424AAE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566D-CD89-1AAE-8D69-A786805F2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9B30-729C-9E0D-4B0A-8105C6A2C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A515-5202-198D-2520-DCB8F1CD4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444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8F7C-0F8C-2D28-1A90-F3424AAE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566D-CD89-1AAE-8D69-A786805F2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9B30-729C-9E0D-4B0A-8105C6A2C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A515-5202-198D-2520-DCB8F1CD4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61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8F7C-0F8C-2D28-1A90-F3424AAE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566D-CD89-1AAE-8D69-A786805F2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9B30-729C-9E0D-4B0A-8105C6A2C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A515-5202-198D-2520-DCB8F1CD4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21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57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9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Creating Classes &amp; Objects in Python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8"/>
            <a:ext cx="7352411" cy="4018978"/>
          </a:xfrm>
        </p:spPr>
        <p:txBody>
          <a:bodyPr tIns="457200">
            <a:normAutofit fontScale="85000" lnSpcReduction="20000"/>
          </a:bodyPr>
          <a:lstStyle/>
          <a:p>
            <a:r>
              <a:rPr lang="en-US" dirty="0"/>
              <a:t>Object-Oriented Programming vs Functional Programming</a:t>
            </a:r>
          </a:p>
          <a:p>
            <a:r>
              <a:rPr lang="en-US" dirty="0"/>
              <a:t>What’s a Class</a:t>
            </a:r>
          </a:p>
          <a:p>
            <a:r>
              <a:rPr lang="en-US" dirty="0"/>
              <a:t>What’s an Object</a:t>
            </a:r>
          </a:p>
          <a:p>
            <a:r>
              <a:rPr lang="en-US" dirty="0"/>
              <a:t>How to Create classes &amp; objects </a:t>
            </a:r>
          </a:p>
          <a:p>
            <a:r>
              <a:rPr lang="en-US" dirty="0"/>
              <a:t>Inheritance </a:t>
            </a:r>
          </a:p>
          <a:p>
            <a:r>
              <a:rPr lang="en-US" dirty="0"/>
              <a:t>Polymorphism </a:t>
            </a:r>
          </a:p>
          <a:p>
            <a:r>
              <a:rPr lang="en-US" dirty="0"/>
              <a:t>Encapsulation and Abstraction </a:t>
            </a:r>
          </a:p>
          <a:p>
            <a:r>
              <a:rPr lang="en-US" dirty="0"/>
              <a:t>Private vs Public 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Object-Oriented Programming vs Functional Programming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Up until this point we have mainly been using </a:t>
            </a:r>
            <a:r>
              <a:rPr lang="en-US" u="sng" dirty="0"/>
              <a:t>functional programming</a:t>
            </a:r>
            <a:r>
              <a:rPr lang="en-US" dirty="0"/>
              <a:t>.</a:t>
            </a:r>
          </a:p>
          <a:p>
            <a:r>
              <a:rPr lang="en-US" u="sng" dirty="0"/>
              <a:t>Functional programming </a:t>
            </a:r>
            <a:r>
              <a:rPr lang="en-US" dirty="0"/>
              <a:t>is great for programs than perform specific tasks such as reading and writing and performing a bank transaction. </a:t>
            </a:r>
          </a:p>
          <a:p>
            <a:r>
              <a:rPr lang="en-US" u="sng" dirty="0"/>
              <a:t>Object-Oriented Programming </a:t>
            </a:r>
            <a:r>
              <a:rPr lang="en-US" dirty="0"/>
              <a:t>is where we can create and design classes and objects. </a:t>
            </a:r>
          </a:p>
          <a:p>
            <a:r>
              <a:rPr lang="en-US" u="sng" dirty="0"/>
              <a:t>Object-Oriented Programming</a:t>
            </a:r>
            <a:r>
              <a:rPr lang="en-US" dirty="0"/>
              <a:t> can help us create complex software applications while also making our code more reuseable.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Graphic 3" descr="Cube with solid fill">
            <a:extLst>
              <a:ext uri="{FF2B5EF4-FFF2-40B4-BE49-F238E27FC236}">
                <a16:creationId xmlns:a16="http://schemas.microsoft.com/office/drawing/2014/main" id="{DDCECB64-A008-8780-7D23-63A683960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7839" y="29857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When would I use Object-Oriented Programming?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r>
              <a:rPr lang="en-US" dirty="0"/>
              <a:t>You can use the </a:t>
            </a:r>
            <a:r>
              <a:rPr lang="en-US" b="1" dirty="0"/>
              <a:t>“is a” </a:t>
            </a:r>
            <a:r>
              <a:rPr lang="en-US" dirty="0"/>
              <a:t>approach and decided if something is an object or is an instance of something.</a:t>
            </a:r>
          </a:p>
          <a:p>
            <a:r>
              <a:rPr lang="en-US" dirty="0"/>
              <a:t>Take the following for consideration: </a:t>
            </a:r>
          </a:p>
          <a:p>
            <a:pPr marL="342900" indent="-342900">
              <a:buFontTx/>
              <a:buChar char="-"/>
            </a:pPr>
            <a:r>
              <a:rPr lang="en-US" dirty="0"/>
              <a:t>A car </a:t>
            </a:r>
            <a:r>
              <a:rPr lang="en-US" b="1" dirty="0"/>
              <a:t>is a </a:t>
            </a:r>
            <a:r>
              <a:rPr lang="en-US" dirty="0"/>
              <a:t>vehicle</a:t>
            </a:r>
          </a:p>
          <a:p>
            <a:pPr marL="342900" indent="-342900">
              <a:buFontTx/>
              <a:buChar char="-"/>
            </a:pPr>
            <a:r>
              <a:rPr lang="en-US" dirty="0"/>
              <a:t>A ladybug </a:t>
            </a:r>
            <a:r>
              <a:rPr lang="en-US" b="1" dirty="0"/>
              <a:t>is a </a:t>
            </a:r>
            <a:r>
              <a:rPr lang="en-US" dirty="0"/>
              <a:t>bug. </a:t>
            </a:r>
          </a:p>
          <a:p>
            <a:pPr marL="342900" indent="-342900">
              <a:buFontTx/>
              <a:buChar char="-"/>
            </a:pPr>
            <a:r>
              <a:rPr lang="en-US" dirty="0"/>
              <a:t>A lion </a:t>
            </a:r>
            <a:r>
              <a:rPr lang="en-US" b="1" dirty="0"/>
              <a:t>is a </a:t>
            </a:r>
            <a:r>
              <a:rPr lang="en-US" dirty="0"/>
              <a:t>big cat. </a:t>
            </a:r>
          </a:p>
          <a:p>
            <a:pPr marL="342900" indent="-342900">
              <a:buFontTx/>
              <a:buChar char="-"/>
            </a:pPr>
            <a:r>
              <a:rPr lang="en-US" dirty="0"/>
              <a:t>Winters Mill </a:t>
            </a:r>
            <a:r>
              <a:rPr lang="en-US" b="1" dirty="0"/>
              <a:t>is a </a:t>
            </a:r>
            <a:r>
              <a:rPr lang="en-US" dirty="0"/>
              <a:t>school.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essentially create classes which you can then create instances of these objects. </a:t>
            </a:r>
          </a:p>
          <a:p>
            <a:r>
              <a:rPr lang="en-US" dirty="0"/>
              <a:t>A class is the blueprint which provide instructions on how to create an object. </a:t>
            </a:r>
          </a:p>
          <a:p>
            <a:r>
              <a:rPr lang="en-US" dirty="0"/>
              <a:t>An example is a </a:t>
            </a:r>
            <a:r>
              <a:rPr lang="en-US" b="1" dirty="0"/>
              <a:t>school</a:t>
            </a:r>
            <a:r>
              <a:rPr lang="en-US" dirty="0"/>
              <a:t> blueprint creates both Century High School and Winters Mill High School.  </a:t>
            </a:r>
          </a:p>
          <a:p>
            <a:r>
              <a:rPr lang="en-US" dirty="0"/>
              <a:t>This of the School Blueprint as the class and Winters Mill and Century as the objects. 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7398-6DCE-8C5D-1E13-7AC6CCD3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30D4-D480-AA56-0FD8-3D291B9F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School Blueprint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FF8A51-8F99-1F90-307F-9634CF1F63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963867"/>
            <a:ext cx="4490827" cy="752475"/>
          </a:xfrm>
        </p:spPr>
        <p:txBody>
          <a:bodyPr/>
          <a:lstStyle/>
          <a:p>
            <a:r>
              <a:rPr lang="en-US" dirty="0"/>
              <a:t>This can create multiple school “copies” even with sight variations. </a:t>
            </a:r>
          </a:p>
        </p:txBody>
      </p:sp>
      <p:pic>
        <p:nvPicPr>
          <p:cNvPr id="10" name="Graphic 9" descr="Blueprint with solid fill">
            <a:extLst>
              <a:ext uri="{FF2B5EF4-FFF2-40B4-BE49-F238E27FC236}">
                <a16:creationId xmlns:a16="http://schemas.microsoft.com/office/drawing/2014/main" id="{1331BA5A-FDD2-5046-583F-6C196E66B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6784" y="2227258"/>
            <a:ext cx="914400" cy="914400"/>
          </a:xfrm>
          <a:prstGeom prst="rect">
            <a:avLst/>
          </a:prstGeom>
        </p:spPr>
      </p:pic>
      <p:pic>
        <p:nvPicPr>
          <p:cNvPr id="12" name="Graphic 11" descr="Schoolhouse outline">
            <a:extLst>
              <a:ext uri="{FF2B5EF4-FFF2-40B4-BE49-F238E27FC236}">
                <a16:creationId xmlns:a16="http://schemas.microsoft.com/office/drawing/2014/main" id="{48C01DE7-CE29-AB66-EBD1-A581DCCA5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2384" y="3716342"/>
            <a:ext cx="914400" cy="914400"/>
          </a:xfrm>
          <a:prstGeom prst="rect">
            <a:avLst/>
          </a:prstGeom>
        </p:spPr>
      </p:pic>
      <p:pic>
        <p:nvPicPr>
          <p:cNvPr id="14" name="Graphic 13" descr="Schoolhouse with solid fill">
            <a:extLst>
              <a:ext uri="{FF2B5EF4-FFF2-40B4-BE49-F238E27FC236}">
                <a16:creationId xmlns:a16="http://schemas.microsoft.com/office/drawing/2014/main" id="{82B95C73-2FC3-6233-CE56-872CAF0E5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79581" y="3716342"/>
            <a:ext cx="914400" cy="9144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320787-B0A4-853D-9F0D-F64132E3F61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662672" y="3141658"/>
            <a:ext cx="591312" cy="8085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04028A-0F05-73DB-B965-B82F78464DD0}"/>
              </a:ext>
            </a:extLst>
          </p:cNvPr>
          <p:cNvCxnSpPr>
            <a:cxnSpLocks/>
          </p:cNvCxnSpPr>
          <p:nvPr/>
        </p:nvCxnSpPr>
        <p:spPr>
          <a:xfrm>
            <a:off x="8412480" y="3141658"/>
            <a:ext cx="542544" cy="8085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3B8CAB-26F4-1D1D-51A7-3EC89F37F1DC}"/>
              </a:ext>
            </a:extLst>
          </p:cNvPr>
          <p:cNvSpPr txBox="1"/>
          <p:nvPr/>
        </p:nvSpPr>
        <p:spPr>
          <a:xfrm>
            <a:off x="6676293" y="4630742"/>
            <a:ext cx="1385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Winters Mill </a:t>
            </a:r>
          </a:p>
          <a:p>
            <a:r>
              <a:rPr lang="en-US" b="1" dirty="0">
                <a:solidFill>
                  <a:schemeClr val="bg1"/>
                </a:solidFill>
              </a:rPr>
              <a:t>High School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737C98-318B-FC12-DA16-8C9A3A14D012}"/>
              </a:ext>
            </a:extLst>
          </p:cNvPr>
          <p:cNvSpPr txBox="1"/>
          <p:nvPr/>
        </p:nvSpPr>
        <p:spPr>
          <a:xfrm>
            <a:off x="8545068" y="4630741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Centaury</a:t>
            </a:r>
          </a:p>
          <a:p>
            <a:r>
              <a:rPr lang="en-US" b="1" dirty="0">
                <a:solidFill>
                  <a:schemeClr val="bg1"/>
                </a:solidFill>
              </a:rPr>
              <a:t>High School</a:t>
            </a:r>
          </a:p>
        </p:txBody>
      </p:sp>
    </p:spTree>
    <p:extLst>
      <p:ext uri="{BB962C8B-B14F-4D97-AF65-F5344CB8AC3E}">
        <p14:creationId xmlns:p14="http://schemas.microsoft.com/office/powerpoint/2010/main" val="77064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0064-71C6-5EDF-965E-54164037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D73E-38FA-87DE-6321-2FFAE5B7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Keep in mind objects can also be…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71E2-5F2E-6C2A-86F9-43D03DA913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898" y="3078861"/>
            <a:ext cx="4490827" cy="3597470"/>
          </a:xfrm>
        </p:spPr>
        <p:txBody>
          <a:bodyPr/>
          <a:lstStyle/>
          <a:p>
            <a:r>
              <a:rPr lang="en-US" dirty="0"/>
              <a:t>Take the following for consideration: </a:t>
            </a:r>
          </a:p>
          <a:p>
            <a:pPr marL="342900" indent="-342900">
              <a:buFontTx/>
              <a:buChar char="-"/>
            </a:pPr>
            <a:r>
              <a:rPr lang="en-US" dirty="0"/>
              <a:t>A checking account </a:t>
            </a:r>
            <a:r>
              <a:rPr lang="en-US" b="1" dirty="0"/>
              <a:t>is an </a:t>
            </a:r>
            <a:r>
              <a:rPr lang="en-US" dirty="0"/>
              <a:t>account  </a:t>
            </a:r>
          </a:p>
          <a:p>
            <a:pPr marL="342900" indent="-342900">
              <a:buFontTx/>
              <a:buChar char="-"/>
            </a:pPr>
            <a:r>
              <a:rPr lang="en-US" dirty="0"/>
              <a:t>A savings account </a:t>
            </a:r>
            <a:r>
              <a:rPr lang="en-US" b="1" dirty="0"/>
              <a:t>is an </a:t>
            </a:r>
            <a:r>
              <a:rPr lang="en-US" dirty="0"/>
              <a:t>account  </a:t>
            </a:r>
          </a:p>
          <a:p>
            <a:pPr marL="342900" indent="-342900">
              <a:buFontTx/>
              <a:buChar char="-"/>
            </a:pPr>
            <a:r>
              <a:rPr lang="en-US" dirty="0"/>
              <a:t>An Instagram </a:t>
            </a:r>
            <a:r>
              <a:rPr lang="en-US" b="1" dirty="0"/>
              <a:t>is an </a:t>
            </a:r>
            <a:r>
              <a:rPr lang="en-US" dirty="0"/>
              <a:t>account.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9B86A-5568-A25E-9283-31019438DF0A}"/>
              </a:ext>
            </a:extLst>
          </p:cNvPr>
          <p:cNvSpPr txBox="1"/>
          <p:nvPr/>
        </p:nvSpPr>
        <p:spPr>
          <a:xfrm>
            <a:off x="1147572" y="3554349"/>
            <a:ext cx="41285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It is important to note that an object can be made of something that is not quite physical. </a:t>
            </a:r>
          </a:p>
        </p:txBody>
      </p:sp>
    </p:spTree>
    <p:extLst>
      <p:ext uri="{BB962C8B-B14F-4D97-AF65-F5344CB8AC3E}">
        <p14:creationId xmlns:p14="http://schemas.microsoft.com/office/powerpoint/2010/main" val="3281674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DA15-B264-FB72-F3EA-B0E56172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F179-2D0A-F7E2-EEC3-35A8D919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Designing a 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FF92-90D7-D08A-8362-13493B9557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02936" y="1865376"/>
            <a:ext cx="6833616" cy="4714495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b="1" dirty="0"/>
              <a:t>class</a:t>
            </a:r>
            <a:r>
              <a:rPr lang="en-US" dirty="0"/>
              <a:t> Ship: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self,name,length</a:t>
            </a:r>
            <a:r>
              <a:rPr lang="en-US" dirty="0"/>
              <a:t>, width, height, </a:t>
            </a:r>
            <a:r>
              <a:rPr lang="en-US" dirty="0" err="1"/>
              <a:t>max_weight</a:t>
            </a:r>
            <a:r>
              <a:rPr lang="en-US" dirty="0"/>
              <a:t>):</a:t>
            </a:r>
          </a:p>
          <a:p>
            <a:r>
              <a:rPr lang="en-US" dirty="0"/>
              <a:t>        self.name = name</a:t>
            </a:r>
          </a:p>
          <a:p>
            <a:r>
              <a:rPr lang="en-US" dirty="0"/>
              <a:t>        </a:t>
            </a:r>
            <a:r>
              <a:rPr lang="en-US" dirty="0" err="1"/>
              <a:t>self.length</a:t>
            </a:r>
            <a:r>
              <a:rPr lang="en-US" dirty="0"/>
              <a:t> = length</a:t>
            </a:r>
          </a:p>
          <a:p>
            <a:r>
              <a:rPr lang="en-US" dirty="0"/>
              <a:t>        </a:t>
            </a:r>
            <a:r>
              <a:rPr lang="en-US" dirty="0" err="1"/>
              <a:t>self.width</a:t>
            </a:r>
            <a:r>
              <a:rPr lang="en-US" dirty="0"/>
              <a:t> = width</a:t>
            </a:r>
          </a:p>
          <a:p>
            <a:r>
              <a:rPr lang="en-US" dirty="0"/>
              <a:t>        </a:t>
            </a:r>
            <a:r>
              <a:rPr lang="en-US" dirty="0" err="1"/>
              <a:t>self.height</a:t>
            </a:r>
            <a:r>
              <a:rPr lang="en-US" dirty="0"/>
              <a:t> = height</a:t>
            </a:r>
          </a:p>
          <a:p>
            <a:r>
              <a:rPr lang="en-US" dirty="0"/>
              <a:t>        </a:t>
            </a:r>
            <a:r>
              <a:rPr lang="en-US" dirty="0" err="1"/>
              <a:t>self.max_weight</a:t>
            </a:r>
            <a:r>
              <a:rPr lang="en-US" dirty="0"/>
              <a:t> = </a:t>
            </a:r>
            <a:r>
              <a:rPr lang="en-US" dirty="0" err="1"/>
              <a:t>max_weight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self.speed</a:t>
            </a:r>
            <a:r>
              <a:rPr lang="en-US" dirty="0"/>
              <a:t> = 0     # this does not require a parameter to initialize </a:t>
            </a:r>
          </a:p>
          <a:p>
            <a:r>
              <a:rPr lang="en-US" dirty="0"/>
              <a:t>        </a:t>
            </a:r>
            <a:r>
              <a:rPr lang="en-US" dirty="0" err="1"/>
              <a:t>self.latitude</a:t>
            </a:r>
            <a:r>
              <a:rPr lang="en-US" dirty="0"/>
              <a:t> = 40.7</a:t>
            </a:r>
          </a:p>
          <a:p>
            <a:r>
              <a:rPr lang="en-US" dirty="0"/>
              <a:t>        </a:t>
            </a:r>
            <a:r>
              <a:rPr lang="en-US" dirty="0" err="1"/>
              <a:t>self.longitude</a:t>
            </a:r>
            <a:r>
              <a:rPr lang="en-US" dirty="0"/>
              <a:t> = -74.0</a:t>
            </a:r>
          </a:p>
          <a:p>
            <a:r>
              <a:rPr lang="en-US" dirty="0"/>
              <a:t>        </a:t>
            </a:r>
            <a:r>
              <a:rPr lang="en-US" dirty="0" err="1"/>
              <a:t>self.direction</a:t>
            </a:r>
            <a:r>
              <a:rPr lang="en-US" dirty="0"/>
              <a:t> = 'N'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B5E8E-98AC-F4D6-0371-D0F31AD8D5AE}"/>
              </a:ext>
            </a:extLst>
          </p:cNvPr>
          <p:cNvSpPr txBox="1"/>
          <p:nvPr/>
        </p:nvSpPr>
        <p:spPr>
          <a:xfrm>
            <a:off x="594360" y="2569464"/>
            <a:ext cx="34015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All classes must have a __</a:t>
            </a:r>
            <a:r>
              <a:rPr lang="en-US" b="1" dirty="0" err="1">
                <a:solidFill>
                  <a:schemeClr val="bg1"/>
                </a:solidFill>
              </a:rPr>
              <a:t>init</a:t>
            </a:r>
            <a:r>
              <a:rPr lang="en-US" b="1" dirty="0">
                <a:solidFill>
                  <a:schemeClr val="bg1"/>
                </a:solidFill>
              </a:rPr>
              <a:t>__() function. This function is responsible for creating the object.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Notice the “self” parameter. This is how the compiler can identify that specific object and ensure it is initializing the correct object.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For good practice classes should begin with a capital letter.</a:t>
            </a:r>
          </a:p>
        </p:txBody>
      </p:sp>
    </p:spTree>
    <p:extLst>
      <p:ext uri="{BB962C8B-B14F-4D97-AF65-F5344CB8AC3E}">
        <p14:creationId xmlns:p14="http://schemas.microsoft.com/office/powerpoint/2010/main" val="1110644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5087-EB3A-DF61-5FCB-B99E20A7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D6AF-9011-4259-F4F1-5F65B99A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Designing a 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835A-55B9-FFBB-E3E1-6ED2BA82E1F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02936" y="1865376"/>
            <a:ext cx="6833616" cy="4714495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b="1" dirty="0"/>
              <a:t>class</a:t>
            </a:r>
            <a:r>
              <a:rPr lang="en-US" dirty="0"/>
              <a:t> Ship: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self,name,length</a:t>
            </a:r>
            <a:r>
              <a:rPr lang="en-US" dirty="0"/>
              <a:t>, width, height, </a:t>
            </a:r>
            <a:r>
              <a:rPr lang="en-US" dirty="0" err="1"/>
              <a:t>max_weight</a:t>
            </a:r>
            <a:r>
              <a:rPr lang="en-US" dirty="0"/>
              <a:t>):</a:t>
            </a:r>
          </a:p>
          <a:p>
            <a:r>
              <a:rPr lang="en-US" dirty="0"/>
              <a:t>        self.name = name</a:t>
            </a:r>
          </a:p>
          <a:p>
            <a:r>
              <a:rPr lang="en-US" dirty="0"/>
              <a:t>        </a:t>
            </a:r>
            <a:r>
              <a:rPr lang="en-US" dirty="0" err="1"/>
              <a:t>self.length</a:t>
            </a:r>
            <a:r>
              <a:rPr lang="en-US" dirty="0"/>
              <a:t> = length</a:t>
            </a:r>
          </a:p>
          <a:p>
            <a:r>
              <a:rPr lang="en-US" dirty="0"/>
              <a:t>        </a:t>
            </a:r>
            <a:r>
              <a:rPr lang="en-US" dirty="0" err="1"/>
              <a:t>self.width</a:t>
            </a:r>
            <a:r>
              <a:rPr lang="en-US" dirty="0"/>
              <a:t> = width</a:t>
            </a:r>
          </a:p>
          <a:p>
            <a:r>
              <a:rPr lang="en-US" dirty="0"/>
              <a:t>        </a:t>
            </a:r>
            <a:r>
              <a:rPr lang="en-US" dirty="0" err="1"/>
              <a:t>self.height</a:t>
            </a:r>
            <a:r>
              <a:rPr lang="en-US" dirty="0"/>
              <a:t> = height</a:t>
            </a:r>
          </a:p>
          <a:p>
            <a:r>
              <a:rPr lang="en-US" dirty="0"/>
              <a:t>        </a:t>
            </a:r>
            <a:r>
              <a:rPr lang="en-US" dirty="0" err="1"/>
              <a:t>self.max_weight</a:t>
            </a:r>
            <a:r>
              <a:rPr lang="en-US" dirty="0"/>
              <a:t> = </a:t>
            </a:r>
            <a:r>
              <a:rPr lang="en-US" dirty="0" err="1"/>
              <a:t>max_weight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self.speed</a:t>
            </a:r>
            <a:r>
              <a:rPr lang="en-US" dirty="0"/>
              <a:t> = 0     # this does not require a parameter to initialize </a:t>
            </a:r>
          </a:p>
          <a:p>
            <a:r>
              <a:rPr lang="en-US" dirty="0"/>
              <a:t>        </a:t>
            </a:r>
            <a:r>
              <a:rPr lang="en-US" dirty="0" err="1"/>
              <a:t>self.latitude</a:t>
            </a:r>
            <a:r>
              <a:rPr lang="en-US" dirty="0"/>
              <a:t> = 40.7</a:t>
            </a:r>
          </a:p>
          <a:p>
            <a:r>
              <a:rPr lang="en-US" dirty="0"/>
              <a:t>        </a:t>
            </a:r>
            <a:r>
              <a:rPr lang="en-US" dirty="0" err="1"/>
              <a:t>self.longitude</a:t>
            </a:r>
            <a:r>
              <a:rPr lang="en-US" dirty="0"/>
              <a:t> = -74.0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93AF9-A33A-494C-13C1-31CBB2C59AFC}"/>
              </a:ext>
            </a:extLst>
          </p:cNvPr>
          <p:cNvSpPr txBox="1"/>
          <p:nvPr/>
        </p:nvSpPr>
        <p:spPr>
          <a:xfrm>
            <a:off x="1664208" y="2999232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D255C-B11E-BA87-AEF8-A94E60E97098}"/>
              </a:ext>
            </a:extLst>
          </p:cNvPr>
          <p:cNvSpPr txBox="1"/>
          <p:nvPr/>
        </p:nvSpPr>
        <p:spPr>
          <a:xfrm>
            <a:off x="1664208" y="4037957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Self keyword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B6BB78-CC91-E582-66FD-E38626B727A0}"/>
              </a:ext>
            </a:extLst>
          </p:cNvPr>
          <p:cNvSpPr txBox="1"/>
          <p:nvPr/>
        </p:nvSpPr>
        <p:spPr>
          <a:xfrm>
            <a:off x="1664208" y="455732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Attributes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1E43AD-D502-5BC4-88EE-150F9CE41EFB}"/>
              </a:ext>
            </a:extLst>
          </p:cNvPr>
          <p:cNvSpPr txBox="1"/>
          <p:nvPr/>
        </p:nvSpPr>
        <p:spPr>
          <a:xfrm>
            <a:off x="1664208" y="351859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Methods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7D041C-A7A3-65EC-8FC0-A702F2193EDC}"/>
              </a:ext>
            </a:extLst>
          </p:cNvPr>
          <p:cNvCxnSpPr>
            <a:cxnSpLocks/>
          </p:cNvCxnSpPr>
          <p:nvPr/>
        </p:nvCxnSpPr>
        <p:spPr>
          <a:xfrm flipV="1">
            <a:off x="3218688" y="2528654"/>
            <a:ext cx="2478024" cy="6552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92E862-E69E-81FA-D7EE-6B003913211D}"/>
              </a:ext>
            </a:extLst>
          </p:cNvPr>
          <p:cNvCxnSpPr>
            <a:cxnSpLocks/>
          </p:cNvCxnSpPr>
          <p:nvPr/>
        </p:nvCxnSpPr>
        <p:spPr>
          <a:xfrm flipV="1">
            <a:off x="3011052" y="2999232"/>
            <a:ext cx="3691500" cy="1223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266D28-ACEC-1712-7BE1-9058F485E424}"/>
              </a:ext>
            </a:extLst>
          </p:cNvPr>
          <p:cNvCxnSpPr>
            <a:cxnSpLocks/>
          </p:cNvCxnSpPr>
          <p:nvPr/>
        </p:nvCxnSpPr>
        <p:spPr>
          <a:xfrm flipV="1">
            <a:off x="3282696" y="3029681"/>
            <a:ext cx="2670048" cy="6644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D39BC2-41A9-9462-BE75-ABC666319DF5}"/>
              </a:ext>
            </a:extLst>
          </p:cNvPr>
          <p:cNvCxnSpPr>
            <a:cxnSpLocks/>
          </p:cNvCxnSpPr>
          <p:nvPr/>
        </p:nvCxnSpPr>
        <p:spPr>
          <a:xfrm flipV="1">
            <a:off x="3011052" y="3762143"/>
            <a:ext cx="2603364" cy="4604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8F4827-28DA-B3DC-9987-CACC51810FA8}"/>
              </a:ext>
            </a:extLst>
          </p:cNvPr>
          <p:cNvCxnSpPr>
            <a:cxnSpLocks/>
          </p:cNvCxnSpPr>
          <p:nvPr/>
        </p:nvCxnSpPr>
        <p:spPr>
          <a:xfrm flipV="1">
            <a:off x="3419856" y="3887926"/>
            <a:ext cx="2676144" cy="854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E3068A-5274-E5F2-2D45-AAC168E24C79}"/>
              </a:ext>
            </a:extLst>
          </p:cNvPr>
          <p:cNvCxnSpPr>
            <a:cxnSpLocks/>
          </p:cNvCxnSpPr>
          <p:nvPr/>
        </p:nvCxnSpPr>
        <p:spPr>
          <a:xfrm flipV="1">
            <a:off x="3419856" y="4314956"/>
            <a:ext cx="2699004" cy="4270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70C780-52FC-BAA8-4B48-655B666D2F96}"/>
              </a:ext>
            </a:extLst>
          </p:cNvPr>
          <p:cNvCxnSpPr>
            <a:cxnSpLocks/>
          </p:cNvCxnSpPr>
          <p:nvPr/>
        </p:nvCxnSpPr>
        <p:spPr>
          <a:xfrm>
            <a:off x="3419856" y="4741986"/>
            <a:ext cx="2699004" cy="1076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DDC06C-8F83-B8FF-AA64-66AE882B9825}"/>
              </a:ext>
            </a:extLst>
          </p:cNvPr>
          <p:cNvCxnSpPr>
            <a:cxnSpLocks/>
          </p:cNvCxnSpPr>
          <p:nvPr/>
        </p:nvCxnSpPr>
        <p:spPr>
          <a:xfrm>
            <a:off x="3419856" y="4741986"/>
            <a:ext cx="2699004" cy="1488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46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55FF-FB4C-3047-3891-E002F148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BC90-4242-0D8D-573C-3031040A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Creating a __str__()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84A54-9A14-F665-CF11-D4E48592BA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12080" y="2728028"/>
            <a:ext cx="6833616" cy="471449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def __str__(self):</a:t>
            </a:r>
          </a:p>
          <a:p>
            <a:r>
              <a:rPr lang="en-US" b="1" dirty="0"/>
              <a:t>        return </a:t>
            </a:r>
            <a:r>
              <a:rPr lang="en-US" b="1" dirty="0" err="1"/>
              <a:t>f"The</a:t>
            </a:r>
            <a:r>
              <a:rPr lang="en-US" b="1" dirty="0"/>
              <a:t> SS.{self.name}\</a:t>
            </a:r>
            <a:r>
              <a:rPr lang="en-US" b="1" dirty="0" err="1"/>
              <a:t>nLength</a:t>
            </a:r>
            <a:r>
              <a:rPr lang="en-US" b="1" dirty="0"/>
              <a:t>: 	{</a:t>
            </a:r>
            <a:r>
              <a:rPr lang="en-US" b="1" dirty="0" err="1"/>
              <a:t>self.length</a:t>
            </a:r>
            <a:r>
              <a:rPr lang="en-US" b="1" dirty="0"/>
              <a:t>}ft.\</a:t>
            </a:r>
            <a:r>
              <a:rPr lang="en-US" b="1" dirty="0" err="1"/>
              <a:t>nWidth</a:t>
            </a:r>
            <a:r>
              <a:rPr lang="en-US" b="1" dirty="0"/>
              <a:t>: {</a:t>
            </a:r>
            <a:r>
              <a:rPr lang="en-US" b="1" dirty="0" err="1"/>
              <a:t>self.width</a:t>
            </a:r>
            <a:r>
              <a:rPr lang="en-US" b="1" dirty="0"/>
              <a:t>}ft.\</a:t>
            </a:r>
            <a:r>
              <a:rPr lang="en-US" b="1" dirty="0" err="1"/>
              <a:t>nHeight</a:t>
            </a:r>
            <a:r>
              <a:rPr lang="en-US" b="1" dirty="0"/>
              <a:t>: 	{</a:t>
            </a:r>
            <a:r>
              <a:rPr lang="en-US" b="1" dirty="0" err="1"/>
              <a:t>self.height</a:t>
            </a:r>
            <a:r>
              <a:rPr lang="en-US" b="1" dirty="0"/>
              <a:t>}ft.\</a:t>
            </a:r>
            <a:r>
              <a:rPr lang="en-US" b="1" dirty="0" err="1"/>
              <a:t>nMax</a:t>
            </a:r>
            <a:r>
              <a:rPr lang="en-US" b="1" dirty="0"/>
              <a:t> Load: {</a:t>
            </a:r>
            <a:r>
              <a:rPr lang="en-US" b="1" dirty="0" err="1"/>
              <a:t>self.max_weight</a:t>
            </a:r>
            <a:r>
              <a:rPr lang="en-US" b="1" dirty="0"/>
              <a:t>}"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6FDF6-7FD3-1EE1-8C9C-0C5BE0424092}"/>
              </a:ext>
            </a:extLst>
          </p:cNvPr>
          <p:cNvSpPr txBox="1"/>
          <p:nvPr/>
        </p:nvSpPr>
        <p:spPr>
          <a:xfrm>
            <a:off x="594360" y="2728028"/>
            <a:ext cx="34015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This is a __str__() function. This function is responsible for display the object’s current state as a string.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This function is called automatically when an object is passed to the print function.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Keep in mind that classes have a default __str__() method. This method will display the objects memory address.   </a:t>
            </a:r>
          </a:p>
        </p:txBody>
      </p:sp>
    </p:spTree>
    <p:extLst>
      <p:ext uri="{BB962C8B-B14F-4D97-AF65-F5344CB8AC3E}">
        <p14:creationId xmlns:p14="http://schemas.microsoft.com/office/powerpoint/2010/main" val="3261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7476-739E-E3F5-42E4-B8B55CFF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BEF9-9740-068B-2302-9AD1A6DD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Getters &amp; Setters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EA979-29C2-7AA2-2C34-8E00EB134262}"/>
              </a:ext>
            </a:extLst>
          </p:cNvPr>
          <p:cNvSpPr txBox="1"/>
          <p:nvPr/>
        </p:nvSpPr>
        <p:spPr>
          <a:xfrm>
            <a:off x="594360" y="2738735"/>
            <a:ext cx="38679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Getter method is a method which returns a attributes value. This is safe because is ensures your objects data is kept </a:t>
            </a:r>
            <a:r>
              <a:rPr lang="en-US" b="1" dirty="0">
                <a:solidFill>
                  <a:schemeClr val="bg1"/>
                </a:solidFill>
              </a:rPr>
              <a:t>“encapsulated”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Setter method is a method which will safely change a attributes value This is safe because it ensures your object’s data is kept </a:t>
            </a:r>
            <a:r>
              <a:rPr lang="en-US" b="1" dirty="0">
                <a:solidFill>
                  <a:schemeClr val="bg1"/>
                </a:solidFill>
              </a:rPr>
              <a:t>“encapsulated”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11366-4A6C-8214-8BF8-8A97E09522BF}"/>
              </a:ext>
            </a:extLst>
          </p:cNvPr>
          <p:cNvSpPr txBox="1"/>
          <p:nvPr/>
        </p:nvSpPr>
        <p:spPr>
          <a:xfrm>
            <a:off x="5867400" y="2738735"/>
            <a:ext cx="53451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Let’s add the following to our ship class: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def </a:t>
            </a:r>
            <a:r>
              <a:rPr lang="en-US" sz="2400" dirty="0" err="1">
                <a:solidFill>
                  <a:schemeClr val="bg1"/>
                </a:solidFill>
              </a:rPr>
              <a:t>get_speed</a:t>
            </a:r>
            <a:r>
              <a:rPr lang="en-US" sz="2400" dirty="0">
                <a:solidFill>
                  <a:schemeClr val="bg1"/>
                </a:solidFill>
              </a:rPr>
              <a:t>(self):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</a:t>
            </a:r>
            <a:r>
              <a:rPr lang="en-US" sz="2400" dirty="0" err="1">
                <a:solidFill>
                  <a:schemeClr val="bg1"/>
                </a:solidFill>
              </a:rPr>
              <a:t>self.speed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def </a:t>
            </a:r>
            <a:r>
              <a:rPr lang="en-US" sz="2400" dirty="0" err="1">
                <a:solidFill>
                  <a:schemeClr val="bg1"/>
                </a:solidFill>
              </a:rPr>
              <a:t>set_speed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self,speed</a:t>
            </a:r>
            <a:r>
              <a:rPr lang="en-US" sz="2400" dirty="0">
                <a:solidFill>
                  <a:schemeClr val="bg1"/>
                </a:solidFill>
              </a:rPr>
              <a:t>):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self.speed</a:t>
            </a:r>
            <a:r>
              <a:rPr lang="en-US" sz="2400" dirty="0">
                <a:solidFill>
                  <a:schemeClr val="bg1"/>
                </a:solidFill>
              </a:rPr>
              <a:t> = speed</a:t>
            </a:r>
          </a:p>
        </p:txBody>
      </p:sp>
    </p:spTree>
    <p:extLst>
      <p:ext uri="{BB962C8B-B14F-4D97-AF65-F5344CB8AC3E}">
        <p14:creationId xmlns:p14="http://schemas.microsoft.com/office/powerpoint/2010/main" val="2361696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1BDF-9CCC-68D2-3324-54C86E4B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E0FE-1866-2B38-CF6A-F57EF6F5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BB1CD-8B8F-6C49-531C-E918323D3659}"/>
              </a:ext>
            </a:extLst>
          </p:cNvPr>
          <p:cNvSpPr txBox="1"/>
          <p:nvPr/>
        </p:nvSpPr>
        <p:spPr>
          <a:xfrm>
            <a:off x="594360" y="2738735"/>
            <a:ext cx="3867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Methods are functions which perform tasks specifically to that object using its “self” keyword.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Methods allow objects to be “</a:t>
            </a:r>
            <a:r>
              <a:rPr lang="en-US" b="1" dirty="0">
                <a:solidFill>
                  <a:schemeClr val="bg1"/>
                </a:solidFill>
              </a:rPr>
              <a:t>abstract” </a:t>
            </a:r>
            <a:r>
              <a:rPr lang="en-US" dirty="0">
                <a:solidFill>
                  <a:schemeClr val="bg1"/>
                </a:solidFill>
              </a:rPr>
              <a:t>because outside code does not need to worry about the inner workings of the method.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34BF9-A63F-22EB-36CD-C674C918AEEC}"/>
              </a:ext>
            </a:extLst>
          </p:cNvPr>
          <p:cNvSpPr txBox="1"/>
          <p:nvPr/>
        </p:nvSpPr>
        <p:spPr>
          <a:xfrm>
            <a:off x="5483542" y="707410"/>
            <a:ext cx="605656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 move(self):</a:t>
            </a:r>
          </a:p>
          <a:p>
            <a:r>
              <a:rPr lang="en-US" dirty="0">
                <a:solidFill>
                  <a:schemeClr val="bg1"/>
                </a:solidFill>
              </a:rPr>
              <a:t>        if 'N' in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self.latitude</a:t>
            </a:r>
            <a:r>
              <a:rPr lang="en-US" dirty="0">
                <a:solidFill>
                  <a:schemeClr val="bg1"/>
                </a:solidFill>
              </a:rPr>
              <a:t> += </a:t>
            </a:r>
            <a:r>
              <a:rPr lang="en-US" dirty="0" err="1">
                <a:solidFill>
                  <a:schemeClr val="bg1"/>
                </a:solidFill>
              </a:rPr>
              <a:t>self.speed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if 'E' in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self.longitude</a:t>
            </a:r>
            <a:r>
              <a:rPr lang="en-US" dirty="0">
                <a:solidFill>
                  <a:schemeClr val="bg1"/>
                </a:solidFill>
              </a:rPr>
              <a:t> += </a:t>
            </a:r>
            <a:r>
              <a:rPr lang="en-US" dirty="0" err="1">
                <a:solidFill>
                  <a:schemeClr val="bg1"/>
                </a:solidFill>
              </a:rPr>
              <a:t>self.speed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if 'S' in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self.latitude</a:t>
            </a:r>
            <a:r>
              <a:rPr lang="en-US" dirty="0">
                <a:solidFill>
                  <a:schemeClr val="bg1"/>
                </a:solidFill>
              </a:rPr>
              <a:t> -= </a:t>
            </a:r>
            <a:r>
              <a:rPr lang="en-US" dirty="0" err="1">
                <a:solidFill>
                  <a:schemeClr val="bg1"/>
                </a:solidFill>
              </a:rPr>
              <a:t>self.speed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if 'W' in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self.longitude</a:t>
            </a:r>
            <a:r>
              <a:rPr lang="en-US" dirty="0">
                <a:solidFill>
                  <a:schemeClr val="bg1"/>
                </a:solidFill>
              </a:rPr>
              <a:t> -= </a:t>
            </a:r>
            <a:r>
              <a:rPr lang="en-US" dirty="0" err="1">
                <a:solidFill>
                  <a:schemeClr val="bg1"/>
                </a:solidFill>
              </a:rPr>
              <a:t>self.speed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</a:p>
          <a:p>
            <a:r>
              <a:rPr lang="en-US" dirty="0">
                <a:solidFill>
                  <a:schemeClr val="bg1"/>
                </a:solidFill>
              </a:rPr>
              <a:t>    def steer(</a:t>
            </a:r>
            <a:r>
              <a:rPr lang="en-US" dirty="0" err="1">
                <a:solidFill>
                  <a:schemeClr val="bg1"/>
                </a:solidFill>
              </a:rPr>
              <a:t>self,right_or_left</a:t>
            </a:r>
            <a:r>
              <a:rPr lang="en-US" dirty="0">
                <a:solidFill>
                  <a:schemeClr val="bg1"/>
                </a:solidFill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</a:rPr>
              <a:t>        key = ['N','NE','E','SE','S','SW','W','NW']</a:t>
            </a:r>
          </a:p>
          <a:p>
            <a:r>
              <a:rPr lang="en-US" dirty="0">
                <a:solidFill>
                  <a:schemeClr val="bg1"/>
                </a:solidFill>
              </a:rPr>
              <a:t>        index = </a:t>
            </a:r>
            <a:r>
              <a:rPr lang="en-US" dirty="0" err="1">
                <a:solidFill>
                  <a:schemeClr val="bg1"/>
                </a:solidFill>
              </a:rPr>
              <a:t>key.index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        if </a:t>
            </a:r>
            <a:r>
              <a:rPr lang="en-US" dirty="0" err="1">
                <a:solidFill>
                  <a:schemeClr val="bg1"/>
                </a:solidFill>
              </a:rPr>
              <a:t>right_or_left</a:t>
            </a:r>
            <a:r>
              <a:rPr lang="en-US" dirty="0">
                <a:solidFill>
                  <a:schemeClr val="bg1"/>
                </a:solidFill>
              </a:rPr>
              <a:t> == 'right':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if index + 1 == </a:t>
            </a:r>
            <a:r>
              <a:rPr lang="en-US" dirty="0" err="1">
                <a:solidFill>
                  <a:schemeClr val="bg1"/>
                </a:solidFill>
              </a:rPr>
              <a:t>len</a:t>
            </a:r>
            <a:r>
              <a:rPr lang="en-US" dirty="0">
                <a:solidFill>
                  <a:schemeClr val="bg1"/>
                </a:solidFill>
              </a:rPr>
              <a:t>(key):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 = key[0]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else: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 = key[index+1]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</a:t>
            </a:r>
          </a:p>
          <a:p>
            <a:r>
              <a:rPr lang="en-US" dirty="0">
                <a:solidFill>
                  <a:schemeClr val="bg1"/>
                </a:solidFill>
              </a:rPr>
              <a:t>        if </a:t>
            </a:r>
            <a:r>
              <a:rPr lang="en-US" dirty="0" err="1">
                <a:solidFill>
                  <a:schemeClr val="bg1"/>
                </a:solidFill>
              </a:rPr>
              <a:t>right_or_left</a:t>
            </a:r>
            <a:r>
              <a:rPr lang="en-US" dirty="0">
                <a:solidFill>
                  <a:schemeClr val="bg1"/>
                </a:solidFill>
              </a:rPr>
              <a:t> == 'left':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self.direction</a:t>
            </a:r>
            <a:r>
              <a:rPr lang="en-US" dirty="0">
                <a:solidFill>
                  <a:schemeClr val="bg1"/>
                </a:solidFill>
              </a:rPr>
              <a:t> = key[index-1]</a:t>
            </a:r>
          </a:p>
        </p:txBody>
      </p:sp>
    </p:spTree>
    <p:extLst>
      <p:ext uri="{BB962C8B-B14F-4D97-AF65-F5344CB8AC3E}">
        <p14:creationId xmlns:p14="http://schemas.microsoft.com/office/powerpoint/2010/main" val="71060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1BDF-9CCC-68D2-3324-54C86E4B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E0FE-1866-2B38-CF6A-F57EF6F5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Polymorphism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BB1CD-8B8F-6C49-531C-E918323D3659}"/>
              </a:ext>
            </a:extLst>
          </p:cNvPr>
          <p:cNvSpPr txBox="1"/>
          <p:nvPr/>
        </p:nvSpPr>
        <p:spPr>
          <a:xfrm>
            <a:off x="594360" y="2875002"/>
            <a:ext cx="38679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Polymorphism</a:t>
            </a:r>
            <a:r>
              <a:rPr lang="en-US" dirty="0">
                <a:solidFill>
                  <a:schemeClr val="bg1"/>
                </a:solidFill>
              </a:rPr>
              <a:t> is an object’s ability to take on multiple forms.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 the different instances of the Ship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34BF9-A63F-22EB-36CD-C674C918AEEC}"/>
              </a:ext>
            </a:extLst>
          </p:cNvPr>
          <p:cNvSpPr txBox="1"/>
          <p:nvPr/>
        </p:nvSpPr>
        <p:spPr>
          <a:xfrm>
            <a:off x="5483542" y="707410"/>
            <a:ext cx="605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79698-6054-C412-CF59-EA5FA6B3236B}"/>
              </a:ext>
            </a:extLst>
          </p:cNvPr>
          <p:cNvSpPr txBox="1"/>
          <p:nvPr/>
        </p:nvSpPr>
        <p:spPr>
          <a:xfrm>
            <a:off x="5946026" y="3429000"/>
            <a:ext cx="5131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Titanic = Ship(‘ss. Titanic’,882,92,175,52310)</a:t>
            </a:r>
          </a:p>
          <a:p>
            <a:r>
              <a:rPr lang="en-US" i="0" dirty="0">
                <a:solidFill>
                  <a:srgbClr val="001D35"/>
                </a:solidFill>
                <a:effectLst/>
              </a:rPr>
              <a:t>Olympic = </a:t>
            </a:r>
            <a:r>
              <a:rPr lang="en-US" dirty="0">
                <a:solidFill>
                  <a:schemeClr val="bg1"/>
                </a:solidFill>
              </a:rPr>
              <a:t>Ship(‘ss. Olympic’,882,92,175,40850)</a:t>
            </a:r>
            <a:endParaRPr lang="en-US" i="0" dirty="0">
              <a:solidFill>
                <a:schemeClr val="bg1"/>
              </a:solidFill>
              <a:effectLst/>
            </a:endParaRPr>
          </a:p>
          <a:p>
            <a:r>
              <a:rPr lang="en-US" i="0" dirty="0">
                <a:solidFill>
                  <a:srgbClr val="001D35"/>
                </a:solidFill>
                <a:effectLst/>
              </a:rPr>
              <a:t>Britannic = </a:t>
            </a:r>
            <a:r>
              <a:rPr lang="en-US" dirty="0">
                <a:solidFill>
                  <a:schemeClr val="bg1"/>
                </a:solidFill>
              </a:rPr>
              <a:t>Ship(‘ss. Britannic’,882,94,175,48150)</a:t>
            </a:r>
            <a:endParaRPr lang="en-US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6" name="Graphic 5" descr="Freight outline">
            <a:extLst>
              <a:ext uri="{FF2B5EF4-FFF2-40B4-BE49-F238E27FC236}">
                <a16:creationId xmlns:a16="http://schemas.microsoft.com/office/drawing/2014/main" id="{493B7AA1-4042-1669-EC35-8D484E30F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1153" y="4770060"/>
            <a:ext cx="914400" cy="914400"/>
          </a:xfrm>
          <a:prstGeom prst="rect">
            <a:avLst/>
          </a:prstGeom>
        </p:spPr>
      </p:pic>
      <p:pic>
        <p:nvPicPr>
          <p:cNvPr id="9" name="Graphic 8" descr="Tug boat outline">
            <a:extLst>
              <a:ext uri="{FF2B5EF4-FFF2-40B4-BE49-F238E27FC236}">
                <a16:creationId xmlns:a16="http://schemas.microsoft.com/office/drawing/2014/main" id="{99DE6A80-822B-F5DF-84E6-8F429BF595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58325" y="47700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1BDF-9CCC-68D2-3324-54C86E4B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E0FE-1866-2B38-CF6A-F57EF6F5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Inheritance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BB1CD-8B8F-6C49-531C-E918323D3659}"/>
              </a:ext>
            </a:extLst>
          </p:cNvPr>
          <p:cNvSpPr txBox="1"/>
          <p:nvPr/>
        </p:nvSpPr>
        <p:spPr>
          <a:xfrm>
            <a:off x="594360" y="2875002"/>
            <a:ext cx="38679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Inheritance</a:t>
            </a:r>
            <a:r>
              <a:rPr lang="en-US" dirty="0">
                <a:solidFill>
                  <a:schemeClr val="bg1"/>
                </a:solidFill>
              </a:rPr>
              <a:t> is a class/object that inherits traits from another class.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can save time and space!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Consider the code: the ship class is our Base class aka. Super class while the </a:t>
            </a:r>
            <a:r>
              <a:rPr lang="en-US" dirty="0" err="1">
                <a:solidFill>
                  <a:schemeClr val="bg1"/>
                </a:solidFill>
              </a:rPr>
              <a:t>cargo_ship</a:t>
            </a:r>
            <a:r>
              <a:rPr lang="en-US" dirty="0">
                <a:solidFill>
                  <a:schemeClr val="bg1"/>
                </a:solidFill>
              </a:rPr>
              <a:t> class is a specialized version of ship this is our derived class aka. Our subclass.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34BF9-A63F-22EB-36CD-C674C918AEEC}"/>
              </a:ext>
            </a:extLst>
          </p:cNvPr>
          <p:cNvSpPr txBox="1"/>
          <p:nvPr/>
        </p:nvSpPr>
        <p:spPr>
          <a:xfrm>
            <a:off x="5483542" y="707410"/>
            <a:ext cx="605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79698-6054-C412-CF59-EA5FA6B3236B}"/>
              </a:ext>
            </a:extLst>
          </p:cNvPr>
          <p:cNvSpPr txBox="1"/>
          <p:nvPr/>
        </p:nvSpPr>
        <p:spPr>
          <a:xfrm>
            <a:off x="5211113" y="2875002"/>
            <a:ext cx="660142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Cargo_Ship</a:t>
            </a:r>
            <a:r>
              <a:rPr lang="en-US" dirty="0">
                <a:solidFill>
                  <a:schemeClr val="bg1"/>
                </a:solidFill>
              </a:rPr>
              <a:t>(Ship):</a:t>
            </a:r>
          </a:p>
          <a:p>
            <a:r>
              <a:rPr lang="en-US" dirty="0">
                <a:solidFill>
                  <a:schemeClr val="bg1"/>
                </a:solidFill>
              </a:rPr>
              <a:t>    def __str__(self):</a:t>
            </a:r>
          </a:p>
          <a:p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Ship.__str</a:t>
            </a:r>
            <a:r>
              <a:rPr lang="en-US" dirty="0">
                <a:solidFill>
                  <a:schemeClr val="bg1"/>
                </a:solidFill>
              </a:rPr>
              <a:t>__(self) + f"\</a:t>
            </a:r>
            <a:r>
              <a:rPr lang="en-US" dirty="0" err="1">
                <a:solidFill>
                  <a:schemeClr val="bg1"/>
                </a:solidFill>
              </a:rPr>
              <a:t>nDestination</a:t>
            </a:r>
            <a:r>
              <a:rPr lang="en-US" dirty="0">
                <a:solidFill>
                  <a:schemeClr val="bg1"/>
                </a:solidFill>
              </a:rPr>
              <a:t>: {</a:t>
            </a:r>
            <a:r>
              <a:rPr lang="en-US" dirty="0" err="1">
                <a:solidFill>
                  <a:schemeClr val="bg1"/>
                </a:solidFill>
              </a:rPr>
              <a:t>self.go_to</a:t>
            </a:r>
            <a:r>
              <a:rPr lang="en-US" dirty="0">
                <a:solidFill>
                  <a:schemeClr val="bg1"/>
                </a:solidFill>
              </a:rPr>
              <a:t>}"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</a:p>
          <a:p>
            <a:r>
              <a:rPr lang="en-US" dirty="0">
                <a:solidFill>
                  <a:schemeClr val="bg1"/>
                </a:solidFill>
              </a:rPr>
              <a:t>    def __</a:t>
            </a:r>
            <a:r>
              <a:rPr lang="en-US" dirty="0" err="1">
                <a:solidFill>
                  <a:schemeClr val="bg1"/>
                </a:solidFill>
              </a:rPr>
              <a:t>init</a:t>
            </a:r>
            <a:r>
              <a:rPr lang="en-US" dirty="0">
                <a:solidFill>
                  <a:schemeClr val="bg1"/>
                </a:solidFill>
              </a:rPr>
              <a:t>__(</a:t>
            </a:r>
            <a:r>
              <a:rPr lang="en-US" dirty="0" err="1">
                <a:solidFill>
                  <a:schemeClr val="bg1"/>
                </a:solidFill>
              </a:rPr>
              <a:t>self,name,length</a:t>
            </a:r>
            <a:r>
              <a:rPr lang="en-US" dirty="0">
                <a:solidFill>
                  <a:schemeClr val="bg1"/>
                </a:solidFill>
              </a:rPr>
              <a:t>, width, height, </a:t>
            </a:r>
            <a:r>
              <a:rPr lang="en-US" dirty="0" err="1">
                <a:solidFill>
                  <a:schemeClr val="bg1"/>
                </a:solidFill>
              </a:rPr>
              <a:t>max_weight,go_to</a:t>
            </a:r>
            <a:r>
              <a:rPr lang="en-US" dirty="0">
                <a:solidFill>
                  <a:schemeClr val="bg1"/>
                </a:solidFill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</a:rPr>
              <a:t>        Ship.__</a:t>
            </a:r>
            <a:r>
              <a:rPr lang="en-US" dirty="0" err="1">
                <a:solidFill>
                  <a:schemeClr val="bg1"/>
                </a:solidFill>
              </a:rPr>
              <a:t>init</a:t>
            </a:r>
            <a:r>
              <a:rPr lang="en-US" dirty="0">
                <a:solidFill>
                  <a:schemeClr val="bg1"/>
                </a:solidFill>
              </a:rPr>
              <a:t>__(</a:t>
            </a:r>
            <a:r>
              <a:rPr lang="en-US" dirty="0" err="1">
                <a:solidFill>
                  <a:schemeClr val="bg1"/>
                </a:solidFill>
              </a:rPr>
              <a:t>self,name,length</a:t>
            </a:r>
            <a:r>
              <a:rPr lang="en-US" dirty="0">
                <a:solidFill>
                  <a:schemeClr val="bg1"/>
                </a:solidFill>
              </a:rPr>
              <a:t>, width, height, </a:t>
            </a:r>
            <a:r>
              <a:rPr lang="en-US" dirty="0" err="1">
                <a:solidFill>
                  <a:schemeClr val="bg1"/>
                </a:solidFill>
              </a:rPr>
              <a:t>max_weight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self.go_to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go_to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Graphic 5" descr="Freight outline">
            <a:extLst>
              <a:ext uri="{FF2B5EF4-FFF2-40B4-BE49-F238E27FC236}">
                <a16:creationId xmlns:a16="http://schemas.microsoft.com/office/drawing/2014/main" id="{493B7AA1-4042-1669-EC35-8D484E30F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4284" y="54020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5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1BDF-9CCC-68D2-3324-54C86E4B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E0FE-1866-2B38-CF6A-F57EF6F5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Private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BB1CD-8B8F-6C49-531C-E918323D3659}"/>
              </a:ext>
            </a:extLst>
          </p:cNvPr>
          <p:cNvSpPr txBox="1"/>
          <p:nvPr/>
        </p:nvSpPr>
        <p:spPr>
          <a:xfrm>
            <a:off x="594360" y="2459503"/>
            <a:ext cx="3867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may want to keep your attributes safe from outside code one way to do this is by making your attribute private.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makes that attribute and/or method not visible to outside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can use two underscores to make an attribute private.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34BF9-A63F-22EB-36CD-C674C918AEEC}"/>
              </a:ext>
            </a:extLst>
          </p:cNvPr>
          <p:cNvSpPr txBox="1"/>
          <p:nvPr/>
        </p:nvSpPr>
        <p:spPr>
          <a:xfrm>
            <a:off x="5483542" y="707410"/>
            <a:ext cx="605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79698-6054-C412-CF59-EA5FA6B3236B}"/>
              </a:ext>
            </a:extLst>
          </p:cNvPr>
          <p:cNvSpPr txBox="1"/>
          <p:nvPr/>
        </p:nvSpPr>
        <p:spPr>
          <a:xfrm>
            <a:off x="6868182" y="1546364"/>
            <a:ext cx="272549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Private Attribute: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self.__attribute</a:t>
            </a:r>
            <a:r>
              <a:rPr lang="en-US" dirty="0">
                <a:solidFill>
                  <a:schemeClr val="bg1"/>
                </a:solidFill>
              </a:rPr>
              <a:t> = attribute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Public Attribute: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self.attribute</a:t>
            </a:r>
            <a:r>
              <a:rPr lang="en-US" dirty="0">
                <a:solidFill>
                  <a:schemeClr val="bg1"/>
                </a:solidFill>
              </a:rPr>
              <a:t> = attribute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B8076-9D71-790F-9161-9EF05282A082}"/>
              </a:ext>
            </a:extLst>
          </p:cNvPr>
          <p:cNvSpPr txBox="1"/>
          <p:nvPr/>
        </p:nvSpPr>
        <p:spPr>
          <a:xfrm>
            <a:off x="6868182" y="4167663"/>
            <a:ext cx="6098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Private Method: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def __method(self):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Public Attribute: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def method(self):</a:t>
            </a:r>
          </a:p>
        </p:txBody>
      </p:sp>
    </p:spTree>
    <p:extLst>
      <p:ext uri="{BB962C8B-B14F-4D97-AF65-F5344CB8AC3E}">
        <p14:creationId xmlns:p14="http://schemas.microsoft.com/office/powerpoint/2010/main" val="3488325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1BDF-9CCC-68D2-3324-54C86E4B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E0FE-1866-2B38-CF6A-F57EF6F5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Public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BB1CD-8B8F-6C49-531C-E918323D3659}"/>
              </a:ext>
            </a:extLst>
          </p:cNvPr>
          <p:cNvSpPr txBox="1"/>
          <p:nvPr/>
        </p:nvSpPr>
        <p:spPr>
          <a:xfrm>
            <a:off x="594360" y="2459503"/>
            <a:ext cx="38679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may want to keep your attributes visible to outside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makes that attribute and/or method visible to outside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do not add two underscores.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34BF9-A63F-22EB-36CD-C674C918AEEC}"/>
              </a:ext>
            </a:extLst>
          </p:cNvPr>
          <p:cNvSpPr txBox="1"/>
          <p:nvPr/>
        </p:nvSpPr>
        <p:spPr>
          <a:xfrm>
            <a:off x="5483542" y="707410"/>
            <a:ext cx="605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79698-6054-C412-CF59-EA5FA6B3236B}"/>
              </a:ext>
            </a:extLst>
          </p:cNvPr>
          <p:cNvSpPr txBox="1"/>
          <p:nvPr/>
        </p:nvSpPr>
        <p:spPr>
          <a:xfrm>
            <a:off x="6868182" y="1546364"/>
            <a:ext cx="27254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Public Attribute: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self.attribute</a:t>
            </a:r>
            <a:r>
              <a:rPr lang="en-US" dirty="0">
                <a:solidFill>
                  <a:schemeClr val="bg1"/>
                </a:solidFill>
              </a:rPr>
              <a:t> = attribute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Private Attribute: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self.__attribute</a:t>
            </a:r>
            <a:r>
              <a:rPr lang="en-US" dirty="0">
                <a:solidFill>
                  <a:schemeClr val="bg1"/>
                </a:solidFill>
              </a:rPr>
              <a:t> = attribute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B8076-9D71-790F-9161-9EF05282A082}"/>
              </a:ext>
            </a:extLst>
          </p:cNvPr>
          <p:cNvSpPr txBox="1"/>
          <p:nvPr/>
        </p:nvSpPr>
        <p:spPr>
          <a:xfrm>
            <a:off x="6868182" y="4167663"/>
            <a:ext cx="6098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Public Attribute: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def method(self):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Private Method: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def __method(self):</a:t>
            </a:r>
          </a:p>
        </p:txBody>
      </p:sp>
    </p:spTree>
    <p:extLst>
      <p:ext uri="{BB962C8B-B14F-4D97-AF65-F5344CB8AC3E}">
        <p14:creationId xmlns:p14="http://schemas.microsoft.com/office/powerpoint/2010/main" val="1861881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" y="411479"/>
            <a:ext cx="7043569" cy="3291840"/>
          </a:xfrm>
        </p:spPr>
        <p:txBody>
          <a:bodyPr/>
          <a:lstStyle/>
          <a:p>
            <a:r>
              <a:rPr lang="en-US" dirty="0"/>
              <a:t>Tip: (Keep Classes in a separate module)</a:t>
            </a:r>
          </a:p>
        </p:txBody>
      </p:sp>
    </p:spTree>
    <p:extLst>
      <p:ext uri="{BB962C8B-B14F-4D97-AF65-F5344CB8AC3E}">
        <p14:creationId xmlns:p14="http://schemas.microsoft.com/office/powerpoint/2010/main" val="1890927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6371216" cy="3291840"/>
          </a:xfrm>
        </p:spPr>
        <p:txBody>
          <a:bodyPr/>
          <a:lstStyle/>
          <a:p>
            <a:r>
              <a:rPr lang="en-US" dirty="0"/>
              <a:t>Review the Ship Class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3759233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{61E40F15-1DEC-4CA7-A683-29F5FA743011}tf78853419_win32</Template>
  <TotalTime>97</TotalTime>
  <Words>1354</Words>
  <Application>Microsoft Office PowerPoint</Application>
  <PresentationFormat>Widescreen</PresentationFormat>
  <Paragraphs>198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Book</vt:lpstr>
      <vt:lpstr>Franklin Gothic Demi</vt:lpstr>
      <vt:lpstr>Custom</vt:lpstr>
      <vt:lpstr>Creating Classes &amp; Objects in Python</vt:lpstr>
      <vt:lpstr>Agenda</vt:lpstr>
      <vt:lpstr>Object-Oriented Programming vs Functional Programming</vt:lpstr>
      <vt:lpstr>When would I use Object-Oriented Programming? </vt:lpstr>
      <vt:lpstr>School Blueprint</vt:lpstr>
      <vt:lpstr>Keep in mind objects can also be…</vt:lpstr>
      <vt:lpstr>Designing a Class </vt:lpstr>
      <vt:lpstr>Designing a Class </vt:lpstr>
      <vt:lpstr>Creating a __str__() method</vt:lpstr>
      <vt:lpstr>Getters &amp; Setters </vt:lpstr>
      <vt:lpstr>Methods</vt:lpstr>
      <vt:lpstr>Polymorphism </vt:lpstr>
      <vt:lpstr>Inheritance </vt:lpstr>
      <vt:lpstr>Private </vt:lpstr>
      <vt:lpstr>Public </vt:lpstr>
      <vt:lpstr>Tip: (Keep Classes in a separate module)</vt:lpstr>
      <vt:lpstr>Review the Ship Class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Classes &amp; Objects in Python</dc:title>
  <dc:creator>Frock, Justin</dc:creator>
  <cp:lastModifiedBy>Justin Frock</cp:lastModifiedBy>
  <cp:revision>4</cp:revision>
  <dcterms:created xsi:type="dcterms:W3CDTF">2024-12-02T17:38:17Z</dcterms:created>
  <dcterms:modified xsi:type="dcterms:W3CDTF">2024-12-03T17:28:20Z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